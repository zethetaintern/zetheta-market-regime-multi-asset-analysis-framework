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7706"/>
                </a:solidFill>
              </a:defRPr>
            </a:pPr>
            <a:r>
              <a:t>ZETHETA ALGORITHMS PRIVATE LIMITED</a:t>
            </a:r>
          </a:p>
          <a:p>
            <a:pPr>
              <a:spcBef>
                <a:spcPts val="1000"/>
              </a:spcBef>
              <a:defRPr sz="3200" b="1">
                <a:solidFill>
                  <a:srgbClr val="FFFFFF"/>
                </a:solidFill>
              </a:defRPr>
            </a:pPr>
            <a:r>
              <a:t>Project 1: Bayesian Regime Detection Engine</a:t>
            </a:r>
          </a:p>
          <a:p>
            <a:pPr>
              <a:spcBef>
                <a:spcPts val="1500"/>
              </a:spcBef>
              <a:defRPr sz="1400">
                <a:solidFill>
                  <a:srgbClr val="CBD5E1"/>
                </a:solidFill>
              </a:defRPr>
            </a:pPr>
            <a:r>
              <a:t>Equity Direction Forecasting, Sequential Bayesian Inference, and Institutional MLOps Governance</a:t>
            </a:r>
            <a:br/>
            <a:r>
              <a:t>CIN: U62012MH2023PTC410415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2: Executive Summary &amp; Problem Framing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Addressing mutual fund horizon limitations and structural alpha compression[cite: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The Alpha Problem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Traditional quantitative models in India rely on point price forecasts that collapse over multi-month horizons[cite: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SPIVA India scorecards show active large-cap managers underperforming net of fees[cite: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Institutional Need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Fiduciaries require audit-defensible, probabilistic state classifications rather than guesses[cite: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Demands explicit uncertainty budgets for every capital allocation decision[cite: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Platform Scope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Combines HMMs, BNNs, foundation models, and RS-VAR into a unified ensemble[cite: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Equipped with conformal calibration and automated MLOps governance[cite: 9].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3: Direction Over Price Thesis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Why point forecasts fail and probabilistic direction succeeds under noise[cite: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Signal-to-Noise Ratio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Equity return variance is dominated by unpredictable macro and behavioral shocks[cite: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Predictable components account for only a fraction of total return variance[cite: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Non-Stationarity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Feature relationships shift dynamically across macroeconomic market regimes[cite: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Static models average across states and calibrate to no regime in particular[cite: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Discriminative Power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Focuses data on distinguishing market states rather than extrapolating index levels[cite: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Provides actionable probability vectors that map cleanly to asset allocation[cite: 9].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4: Indian Mutual Fund Ecosystem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Managing over ₹70 lakh crore AUM and ₹26,000+ crore monthly SIP inflows[cite: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Industry Scale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Industry AUM surpassed ₹70 lakh crore with equity schemes driving over 60% of inflows[cite: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Monthly SIP inflows exceed ₹26,000 crore, acting as structural price floors[cite: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Marginal Buyers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Domestic Institutional Investors (DIIs) have displaced FPIs as primary price setters[cite: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SIP inflows create sticky, price-insensitive accumulation channels[cite: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Fee Pressures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Total Expense Ratio (TER) compression increases demand for differentiated active alpha[cite: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Requires rigorous information advantage to justify active fund management fees[cite: 9].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5: SEBI Compliance &amp; Risk Governance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Feeding Risk-O-Meter classifications and regulatory stress testing architectures[cite: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Risk-O-Meter Mandate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SEBI requires monthly risk classification disclosures using standardized metrics[cite: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Regime engine outputs feed directly into quantitative risk-meter inputs[cite: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Scheme Categorization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Strictly respects SEBI asset allocation limits across large, mid, and small-caps[cite: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Regime tilts are executed entirely within permitted scheme boundaries[cite: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Audit Defensibility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Inspectors demand reproducible decision trails and documented model lineages[cite: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Maintains immutable logs of feature versions, posteriors, and attributions[cite: 9].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6: Bayesian Statistical Foundations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Formulating parameter posteriors P(θ|D) via prior distributions and likelihoods[cite: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Bayesian Framework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Treats unknown parameters as random variables governed by probability distributions[cite: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Combines prior beliefs and likelihood functions via Bayes' theorem[cite: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Credible Intervals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Yields full posterior probability distributions rather than point estimates[cite: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Provides interval estimates crucial for risk-managed position sizing[cite: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Domain Priors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Encodes structural beliefs (e.g., regime persistence, typical durations) cleanly[cite: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Stabilizes model training against historical sample noise and outliers[cite: 9].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7: Conjugate Priors &amp; Closed-Form Updates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Beta-Bernoulli persistence and Dirichlet state transition conjugate updates[cite: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Beta-Bernoulli Model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Models regime self-transition probability using conjugate Beta distributions[cite: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Enables exact, closed-form posterior updates as new days are observed[cite: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Dirichlet Rows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Places Dirichlet priors over multi-state transition probability matrices[cite: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Encodes persistence priors that favor stable macroeconomic states[cite: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Operational Speed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Conjugacy avoids costly iterative optimization for baseline parameter updates[cite: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Provides immediate posterior updating for streaming data feeds[cite: 9].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8: MCMC Sampling &amp; NUTS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Traversing high-dimensional posteriors with Hamiltonian Monte Carlo and diagnostics[cite: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HMC &amp; NUTS Algorithm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Uses gradient information to propose efficient paths through complex posteriors[cite: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No-U-Turn Sampler adaptively tunes trajectory lengths for convergence[cite: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Convergence Diagnostics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Evaluates chain mixing and stationarity using Gelman-Rubin R-hat (&lt; 1.01)[cite: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Tracks Effective Sample Size (ESS) to ensure independent posterior draws[cite: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Divergence Monitoring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Identifies problematic geometry in parameter space via HMC divergences[cite: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Requires target acceptance rate tuning (e.g., 0.95) for robust sampling[cite: 9].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9: Variational Inference (VI)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Accelerating posterior approximation via ELBO optimization and mean-field methods[cite: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Optimization Reframe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Converts intractable posterior integration into a tractable optimization problem[cite: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Minimizes Kullback-Leibler divergence between variational family and true posterior[cite: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ELBO Maximization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Optimizes Evidence Lower Bound via stochastic gradient descent methods[cite: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Scales efficiently to large multi-asset datasets where MCMC is too slow[cite: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Trade-Off Analysis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Mean-field VI can underestimate posterior variance during extreme shocks[cite: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Must be paired with conformal calibration wrappers to guarantee coverage[cite: 9].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10: Gaussian Emission HMMs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Configuring 5-state hidden Markov structures for Indian market regimes[cite: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Latent Architecture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Assumes observed features are generated by unobserved underlying Markov states[cite: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Defines emission distributions conditioned on the prevailing economic regime[cite: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5-State Taxonomy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Partitions market behavior into Risk-On, Late-Cycle, Transitional, Post-Shock, Risk-Off[cite: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Captures distinct structural phases of Indian equity cycle dynamics[cite: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Diagonal Covariances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Utilizes diagonal covariance matrices for robust parameter estimation[cite: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Prevents overfitting on limited macroeconomic feature histories[cite: 9].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11: Baum-Welch &amp; Viterbi Algorithms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Estimating transition matrices and decoding historical latent state sequences[cite: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Baum-Welch (EM)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Expectation-Maximization algorithm iteratively maximizes likelihood of observations[cite: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Estimates transition probabilities and emission parameters without supervision[cite: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Viterbi Decoding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Computes the single globally most likely hidden state path through history[cite: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Identifies exact historical regime turning points with temporal precision[cite: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Computational Efficiency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Scales quadratically with number of states O(K²T), perfectly manageable for K=5[cite: 9].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12: Post-Hoc Regime Labeling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Sorting states by mean-volatility signatures into economic categories[cite: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Agnostic States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Unsupervised HMM outputs numeric indices (0 to K-1) with no inherent meaning[cite: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Requires systematic post-hoc economic identification[cite: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Signature Sorting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Sorts states by fitted return mean and volatility magnitude[cite: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Identifies Risk-On (high mean, low vol) and Risk-Off (low mean, high vol)[cite: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Interpretability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Maps numeric indices to standardized investor-facing regime labels[cite: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Ensures consistent communication with Investment Committees and auditors[cite: 9].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13: Bayesian Deep Learning (BDL)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Capturing non-linear feature interactions with calibrated network uncertainty[cite: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Beyond Linear Models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Neural networks absorb complex high-dimensional alt-data and cross-asset signals[cite: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Bayesian extension prevents overconfident false signals during crises[cite: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Weight Uncertainty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Places probability distributions over network weights rather than fixed points[cite: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Propagates parameter uncertainty forward into final classification scores[cite: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Production Viability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Balances expressive non-linear representation with rigorous risk management[cite: 9].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14: Monte Carlo Dropout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Sampling stochastic network predictions to quantify epistemic risk[cite: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Permanent Dropout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Keeps dropout layers active during inference phase (training=True)[cite: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Performs repeated stochastic forward passes to generate score distribution[cite: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Uncertainty Metric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Standard deviation across MC passes measures model epistemic uncertainty[cite: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Low variance = high conviction; high variance = transitional ambiguity[cite: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Computational Speed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Requires zero architectural redesign compared to standard deterministic networks[cite: 9].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15: Deep Ensembles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Training independent network initializations to separate epistemic from aleatoric uncertainty[cite: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Ensemble Training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Trains M independent neural networks with varied random seed initializations[cite: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Captures multi-modal posterior modes that single networks miss[cite: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Uncertainty Splicing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Separates epistemic disagreement across members from aleatoric data noise[cite: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Informs investment desks whether uncertainty is reducible with more data[cite: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Empirical Reliability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Consistently outperforms single Bayesian neural networks in financial forecasting[cite: 9].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16: Time-Series Foundation Models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Zero-shot temporal embedding extraction via Chronos and TimesFM architectures[cite: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Foundation Shift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Leverages pre-trained transformer models trained on massive multi-domain series[cite: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Encodes universal structural priors (trend, seasonality, volatility clustering)[cite: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Embedding Extraction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Transforms rolling market return windows into dense latent feature vectors[cite: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Amortizes heavy data requirements via pre-trained representations[cite: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Transfer Learning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Applies global financial time-series priors directly to Indian equity datasets[cite: 9].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17: Hybrid Model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Pairing foundation model encoders with Bayesian classification prediction heads[cite: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Encoder Backbone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Chronos or TimesFM extracts deep temporal embeddings from raw market inputs[cite: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Serves as a robust feature extraction engine[cite: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Bayesian Head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Bayesian classification head processes embeddings into calibrated regime probabilities[cite: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Delivers full uncertainty quantification alongside deep representations[cite: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Optimal Fusion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Combines state-of-the-art temporal modeling with rigorous fiduciary risk bounds[cite: 9].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18: Split-Conformal Prediction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Establishing finite-sample valid coverage guarantees on held-out calibration sets[cite: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Calibration Split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Reserves a held-out calibration dataset distinct from training and test folds[cite: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Computes non-conformity scores for each calibration sample[cite: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Coverage Guarantee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Calculates empirical quantile q to ensure 1-alpha marginal coverage[cite: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Provides distribution-free statistical guarantees independent of model form[cite: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Fiduciary Trust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Replaces heuristic confidence thresholds with mathematically rigorous bounds[cite: 9].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19: Adaptive Prediction Sets (APS)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Dynamic set sizing during ambiguous market state transitions[cite: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Cumulative Sizing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Sorts class probabilities and cumulates mass until reaching calibration threshold[cite: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Produces prediction sets that adapt in size to underlying difficulty[cite: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Regime Ambiguity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Quiet regimes yield tight singleton sets (e.g., {Risk-On})[cite: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Transitional regimes correctly expand sets (e.g., {Late-Cycle, Transitional})[cite: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Operational Utility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Informs portfolio managers precisely when the model is uncertain about states[cite: 9].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20: Online Adaptive Conformal Inference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Updating miscoverage targets dynamically in streaming production pipelines[cite: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Non-Stationarity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Financial time-series violate standard exchangeability assumptions over time[cite: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Online ACI updates miscoverage level αt adaptively after each step[cite: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Tracking Coverage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Ensures empirical coverage tracks target even under sudden regime drift[cite: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Maintains statistical validity in live streaming deployment environments[cite: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Robustness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Shields the allocation engine against unexpected structural distribution shifts[cite: 9].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21: Topological Data Analysis (TDA)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Persistent homology and persistence landscapes over rolling correlation manifolds[cite: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Manifold Shape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Analyzes multi-dimensional shape of correlation point clouds via homology[cite: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Tracks birth and death of topological features across thresholds[cite: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Early Warning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Persistent homology detects structural market fractures prior to price drawdowns[cite: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Extracts persistence landscape features for downstream classifiers[cite: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Geometric Insight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Captures systemic risk build-up invisible to standard linear metrics[cite: 9].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22: Regime-Switching VAR (RS-VAR)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Conditioning joint cross-asset dynamics and covariance on latent states[cite: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Multivariate System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Models simultaneous dynamics of returns, VIX, FII flows, INR, and Gilt yields[cite: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Assigns distinct intercept, VAR coefficients, and covariance per regime[cite: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Cross-Asset Feedback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Captures non-linear feedback loops between currency depreciation and equity flows[cite: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Outperforms single-feature HMMs by leveraging full macro structure[cite: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Bayesian Estimation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Utilizes MCMC to derive full posterior distributions over multivariate parameters[cite: 9].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23: Multivariate Impulse Responses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Analyzing regime-conditional shock propagation across FII flows and interest rates[cite: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Shock Propagation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Simulates a one-standard-deviation FII outflow shock across all macro variables[cite: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Measures dynamic impact trajectory conditioned on prevailing regime[cite: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Regime Asymmetry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Shows how identical outflow shocks cause severe drawdowns in Risk-Off states[cite: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Demonstrates muted price impact during Risk-On SIP accumulation phases[cite: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Stress Testing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Provides empirical foundation for scenario analysis and liquidity stress tests[cite: 9].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24: Bootstrap Particle Filtering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Online sequential Monte Carlo for real-time intraday state tracking[cite: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Particle Representation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Represents regime posterior distribution via weighted set of simulation particles[cite: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Propagates particles through transition matrix as new data arrives[cite: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Likelihood Weighting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Re-weights particles based on emission likelihood of latest intraday observation[cite: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Resamples particles to prevent weight degeneracy and maintain diversity[cite: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Intraday Speed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Enables real-time state tracking in milliseconds between nightly batch refits[cite: 9].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25: Bayesian Online Changepoint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Monitoring run-length distributions to flag acute structural breaks instantly[cite: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Run-Length Posterior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Maintains probability distribution over time elapsed since last regime break[cite: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Calculates predictive probabilities of incoming observations[cite: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Crisis Detection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Flags acute structural breaks (COVID, IL&amp;FS) when run-length collapses to zero[cite: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Filters out routine market noise while reacting instantly to true shocks[cite: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Complementary Role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Works alongside HMMs: BOCPD detects structural discontinuities; HMM classifies[cite: 9].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26: Two-Speed Serving Architecture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Reconciling intraday online updates with nightly batch refit cycles[cite: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Nightly Batch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Heavy MCMC refits, stacking optimization, and conformal recalibration run at EOD[cite: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Establishes rigorous baseline posterior distributions and parameters[cite: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Intraday Online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Particle filter and BOCPD track live state transitions in real time[cite: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Provides low-latency responsiveness between batch execution windows[cite: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Reconciliation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Continuously checks online posteriors against batch baselines for divergence[cite: 9].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27: Model Ensembling &amp; Stacking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Combining heterogeneous model streams via constrained out-of-fold stacking meta-learners[cite: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Inductive Diversity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Combines HMM, RS-VAR, BNN, and foundation models to eliminate blind spots[cite: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Prevents single-model failure across complex market cycles[cite: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Constrained Stacking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Trains meta-learner weights on out-of-fold predictions without future leakage[cite: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Enforces non-negative simplex constraints (weights sum to 1.0)[cite: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Ensemble Superiority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Consistently outperforms any individual constituent model out-of-sample[cite: 9].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28: Bayesian Model Averaging (BMA)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Weighting models dynamically by out-of-sample log-predictive likelihoods[cite: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BMA Formulation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Weights each model proportionally to its marginal likelihood or predictive score[cite: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Automatically shifts influence toward whichever model currently explains data best[cite: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Dynamic Adaptation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Allows smooth transition of leadership between macro and technical models[cite: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Adapts dynamically to changing macroeconomic regime conditions[cite: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Probabilistic Rigor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Grounded firmly in Bayesian probability theory for model combination[cite: 9].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29: WAIC &amp; PSIS-LOO Selection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Ranking Bayesian ensemble members by expected out-of-sample predictive density[cite: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Information Criteria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WAIC and Leave-One-Out cross-validation estimate out-of-sample accuracy[cite: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Calculated directly from posterior simulation draws via ArviZ[cite: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Penalized Fit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Balances model data-fitting capability against parameter complexity penalty[cite: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Prevents overfitting complex hierarchical structures unnecessarily[cite: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Rigorous Selection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Provides principled criteria for admitting models into the final production ensemble[cite: 9].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30: Data Universe &amp; Macro Ingestion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Processing 15+ years of daily multi-asset time series across ~4,000 trading days[cite: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Multi-Asset Panel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Ingests daily OHLCV for Nifty 50, Midcap, Smallcap, VIX, USD/INR, Gilts[cite: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Spans 15+ years across multiple complete economic cycles[cite: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Flow Data Integration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Incorporates daily FII/DII equity net flows and monthly SIP totals[cite: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Tracks structural accumulation channels unique to Indian market structure[cite: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Quality Assurances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Rigorously checks for missing values, holiday calendar mismatches, corporate actions[cite: 9].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31: Point-in-Time Feature Engineering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Constructing 30+ regime features with strict look-ahead bias and release-lag controls[cite: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Feature Library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Engineered 30+ features spanning returns, volatility, breadth, macro, flow[cite: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Includes VIX z-scores, advance-decline ratios, and monetary policy proxies[cite: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Look-Ahead Defense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Enforces strict release-lag shifting (PIT alignment) for macroeconomic data[cite: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Ensures models never consume unreleased revised statistics[cite: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Feature Store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Maintains centralized store ensuring exact parity between training and serving[cite: 9].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32: Historical Case Study: 2020 COVID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Evaluating VIX spikes, breadth collapse, and conformal tail uncertainty protection[cite: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COVID Crash Analysis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Rapid 37.6% drawdown with VIX peaking at 86.6 in March 2020[cite: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Pre-shock models misclassified benign trends as stable Risk-On[cite: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Engine Response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Composite crisis detectors flagged VIX spikes and breadth collapse instantly[cite: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Conformal widening successfully reflected extreme tail uncertainty[cite: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Drawdown Reduction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Reactive regime overlay materially reduced portfolio drawdown vs passive buy-hold[cite: 9].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33: Historical Case Study: 2018 IL&amp;FS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Detecting mid-cap credit stress hidden beneath benign large-cap Nifty prints[cite: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IL&amp;FS Default Shock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Nifty large-cap fell 14%, while Nifty Midcap and Smallcap crashed 25-35%[cite: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Headline indices masked acute credit-market freezing in shadow banking[cite: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Cap-Segmented Stress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Engine utilized breadth, small-cap relative performance, and credit spreads[cite: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Successfully surfaced hidden Risk-Off conditions in mid/small segments[cite: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Multivariate Value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Proves necessity of multi-cap and credit feature integration[cite: 9].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34: Historical Case Study: 2013 Taper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Replicating EM currency stress, INR depreciation, and FII outflow channels[cite: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Taper Tantrum Dynamics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US Fed tapering signal triggered INR depreciation from 55 to 68 against USD[cite: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FII outflows accelerated while Nifty headline correction remained moderate[cite: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EM Stress Capture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Engine incorporated currency depreciation and FII flows rather than Nifty alone[cite: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Detected EM-specific stress hidden under benign equity index prints[cite: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Managed Tilts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Enabled controlled risk reduction rather than lagging equity index signals[cite: 9].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35: Historical Case Study: 2024 Elections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Differentiating event-driven volatility spikes from structural regime shifts[cite: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Election Result Shock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Unexpected vote counts caused 6% gap down and VIX spike to 27 intraday[cite: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Recovered rapidly within days as coalition arithmetic clarified[cite: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Event-Window Gating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Calendar-aware event gating dampened conviction near known binary catalysts[cite: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Prevented premature panic-selling on temporary event-driven noise[cite: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Conformal Behavior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Prediction intervals widened pre-event and re-narrowed post-resolution[cite: 9].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36: Regime-Conditioned Monte Carlo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Projecting forward portfolio path simulations, VaR, and CVaR distributions[cite: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Path Simulation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Simulates 10,000+ forward portfolio paths using transition matrices and regime moments[cite: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Generates probabilistic forward return distribution envelopes[cite: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Risk Metrics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Calculates conditional Value-at-Risk (VaR) and Expected Shortfall (CVaR)[cite: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Provides Investment Committees with rigorous tail-risk downside estimates[cite: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Conditioned Insights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Replaces static risk models with dynamic regime-aware forward projections[cite: 9].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37: Black-Litterman Asset Allocation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Mapping regime probabilities into tactical asset allocation views and conviction tilts[cite: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Equilibrium Prior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Anchors allocation framework in market capitalization equilibrium weights[cite: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Blends prior baseline with subjective probabilistic views[cite: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Regime Views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Maps high Risk-Off probability into negative tilt views on high-beta sleeves[cite: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Sets view uncertainty (Omega) directly from conformal prediction set width[cite: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Kelly Sizing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Scales position tilts using conviction-weighted fractional Kelly sizing rules[cite: 9].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38: Proper Scoring Rules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Evaluating probabilistic forecasts honestly using Brier scores and Ranked Probability Scores[cite: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Scoring Rules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Replaces misleading point accuracy with proper scoring rules (Log Loss, Brier)[cite: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Ranked Probability Score (RPS) respects ordinal nature of ordered regimes[cite: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Murphy Decomposition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Deconstructs Brier score into reliability, resolution, and uncertainty components[cite: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Verifies whether forecast probabilities are genuinely well-calibrated[cite: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Fiduciary Integrity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Ensures model evaluation cannot be gamed by overconfident uncalibrated guesses[cite: 9].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39: Backtesting Overfitting Controls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Enforcing purged cross-validation, Deflated Sharpe Ratios, and PBO metrics[cite: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Purged CV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Removes training samples whose label windows overlap test folds to prevent leakage[cite: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Applies embargo buffers to eliminate serial correlation across fold boundaries[cite: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Deflated Sharpe (DSR)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Corrects observed Sharpe ratio for multiple testing across trials and non-normality[cite: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Calculates exact probability that true Sharpe exceeds zero[cite: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PBO Metric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Computes Probability of Backtest Overfitting via combinatorial cross-validation[cite: 9].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40: MLOps Governance &amp; Audit Trails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Logging immutable data hashes, model versions, and KernelSHAP attributions for SEBI compliance[cite: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Immutable Lineage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Records point-in-time data hashes, model versions, and MCMC seeds per call[cite: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Enables bit-for-bit reconstruction of past portfolio decisions for audits[cite: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KernelSHAP Attribution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Generates feature-level explanations for every daily regime probability vector[cite: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Produces human-readable rationale lines for Investment Committee reports[cite: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Drift Monitoring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Tracks Population Stability Index (PSI) to trigger automated retraining safely[cite: 9].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41: Regime Lab Gamification Suite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9-level campaign simulation, stress test modes, and coach evaluation metrics[cite: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Campaign Levels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Progresses from Indicator Novice to Regulator's Choice across 9 structured tiers[cite: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Trains buy-side analysts on realistic Indian market regime dynamics[cite: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Stress Test Mode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Immerses players in historical crisis episodes with hidden ground truths[cite: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Scores calibration, reaction speed, and Investment Committee acceptance[cite: 9].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096512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Scoring Matrix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Evaluates performance across 1000 points covering accuracy, calibration, and audit[cite: 9].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42: 15-Day Project Methodology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AI-accelerated agile research schedule and milestone tracking[cite: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Phase Breakdown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Compresses traditional 3-month research into 15 intensive engineering days[cite: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Applies 80/20 rule: AI code generation paired with custom domain integration[cite: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Milestone Tracking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Daily deliverables span feature engineering, HMMs, BNNs, and foundation models[cite: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Rigorous peer review and cross-language numerical checks[cite: 9].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43: Mandatory Deliverables Checklist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Delivering the 6 required project artefacts for institutional evaluation[cite: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Core Deliverables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Deliverable 1: Comprehensive 40+ page Main Report[cite: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Deliverable 2 &amp; 3: Production-grade Python and R codebases[cite: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Validation Artefacts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Deliverable 4: Backtesting and regime-conditioned simulation engine[cite: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Deliverable 5 &amp; 6: Model cards, calibration packs, and 18-slide executive deck[cite: 9].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44: Tools &amp; Platforms Guide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Configuring Python, R, MLOps trackers, and open Indian market data sources[cite: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Environment Stack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Python (PyMC, TensorFlow, PyTorch, PyG, Chronos, TimesFM)[cite: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 environment (depmixS4, MSwM, rstanarm, conformalInference)[cite: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Data Sources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Ingests NSE indices, Bhavcopy, RBI DBIE macro data, and AMFI flow stats[cite: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Maintains reproducible experiment tracking via MLflow and DVC[cite: 9].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0F172A"/>
                </a:solidFill>
              </a:defRPr>
            </a:pPr>
            <a:r>
              <a:t>Slide 45: Submission Protocol &amp; Repository Handover</a:t>
            </a:r>
          </a:p>
          <a:p>
            <a:pPr>
              <a:spcBef>
                <a:spcPts val="400"/>
              </a:spcBef>
              <a:defRPr sz="1300">
                <a:solidFill>
                  <a:srgbClr val="475569"/>
                </a:solidFill>
              </a:defRPr>
            </a:pPr>
            <a:r>
              <a:t>Transferring ownership, compliance footers, and final presentation handover[cite: 9].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Transfer Protocol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Transfers private GitHub repository ownership to @ZethetaIntern[cite: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Grants read access to deliverables shared drive for assessment team[cite: 9].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16936"/>
            <a:ext cx="1033272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8A"/>
                </a:solidFill>
              </a:defRPr>
            </a:pPr>
            <a:r>
              <a:t>Document Compliance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Retains CIN (U62012MH2023PTC410415) in official document footers[cite: 9].</a:t>
            </a:r>
          </a:p>
          <a:p>
            <a:pPr>
              <a:spcBef>
                <a:spcPts val="300"/>
              </a:spcBef>
              <a:defRPr sz="1200">
                <a:solidFill>
                  <a:srgbClr val="0F172A"/>
                </a:solidFill>
              </a:defRPr>
            </a:pPr>
            <a:r>
              <a:t>• Supplies deliverables in both PDF and editable formats[cite: 9].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